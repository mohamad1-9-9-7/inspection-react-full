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8989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280160"/>
            <a:ext cx="5669280" cy="4754880"/>
          </a:xfrm>
          <a:prstGeom prst="roundRect">
            <a:avLst>
              <a:gd name="adj" fmla="val 7692"/>
            </a:avLst>
          </a:prstGeom>
          <a:solidFill>
            <a:srgbClr val="0F766E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023360"/>
            <a:ext cx="5120640" cy="4206240"/>
          </a:xfrm>
          <a:prstGeom prst="roundRect">
            <a:avLst>
              <a:gd name="adj" fmla="val 8696"/>
            </a:avLst>
          </a:prstGeom>
          <a:solidFill>
            <a:srgbClr val="14B8A6">
              <a:alpha val="15000"/>
            </a:srgbClr>
          </a:solidFill>
          <a:ln/>
        </p:spPr>
      </p:sp>
      <p:pic>
        <p:nvPicPr>
          <p:cNvPr id="4" name="Image 0" descr="C:\Users\moham\AppData\Local\Temp\claude\D--inspection-react-full\ea805443-e362-4539-a734-50dbdf8a38c0\scratchpad\shots\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1051560" cy="1051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83080" y="56692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CFE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 EMIRATES LIVESTOCK TRADING L.L.C.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783080" y="896112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MAWASHI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94360" y="2468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تقديمي كامل للنظام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88036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المواشي — نظام إدارة الجودة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566928" y="43434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en-US" sz="1600" dirty="0">
                <a:solidFill>
                  <a:srgbClr val="C7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InspectPro QMS · منصّة موحّدة للتفتيش وسلامة الغذاء والامتثال والعمليات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66928" y="58521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8A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إعداد: م. محمد عبدالله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b="1" kern="0" spc="2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نظرة عامة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منصّة واحدة تدير الجودة في كل الفروع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متكامل قائم على السحابة يجمع تقارير سلامة الغذاء اليومية، ووثائق ISO 22000 / HACCP، والصحة والسلامة والبيئة (HSE)، والتدريب، والعمليات، ولوحات المؤشرات — بلغتين عربي/إنجليزي وبصلاحيات دقيقة لكل مستخدم.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2615184" cy="2423160"/>
          </a:xfrm>
          <a:prstGeom prst="roundRect">
            <a:avLst>
              <a:gd name="adj" fmla="val 4528"/>
            </a:avLst>
          </a:prstGeom>
          <a:solidFill>
            <a:srgbClr val="0B1525"/>
          </a:solidFill>
          <a:ln/>
          <a:effectLst>
            <a:outerShdw blurRad="101600" dist="38100" dir="5400000" algn="bl" rotWithShape="0">
              <a:srgbClr val="94A3B8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3703320"/>
            <a:ext cx="26151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85800" y="4754880"/>
            <a:ext cx="23408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50" dirty="0">
                <a:solidFill>
                  <a:srgbClr val="D8E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فرعاً مُداراً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493008" y="3246120"/>
            <a:ext cx="2615184" cy="2423160"/>
          </a:xfrm>
          <a:prstGeom prst="roundRect">
            <a:avLst>
              <a:gd name="adj" fmla="val 4528"/>
            </a:avLst>
          </a:prstGeom>
          <a:solidFill>
            <a:srgbClr val="0F766E"/>
          </a:solidFill>
          <a:ln/>
          <a:effectLst>
            <a:outerShdw blurRad="101600" dist="38100" dir="5400000" algn="bl" rotWithShape="0">
              <a:srgbClr val="94A3B8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93008" y="3703320"/>
            <a:ext cx="26151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2,500+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630168" y="4754880"/>
            <a:ext cx="23408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50" dirty="0">
                <a:solidFill>
                  <a:srgbClr val="D8E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تقرير حيّ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37376" y="3246120"/>
            <a:ext cx="2615184" cy="2423160"/>
          </a:xfrm>
          <a:prstGeom prst="roundRect">
            <a:avLst>
              <a:gd name="adj" fmla="val 4528"/>
            </a:avLst>
          </a:prstGeom>
          <a:solidFill>
            <a:srgbClr val="0B1525"/>
          </a:solidFill>
          <a:ln/>
          <a:effectLst>
            <a:outerShdw blurRad="101600" dist="38100" dir="5400000" algn="bl" rotWithShape="0">
              <a:srgbClr val="94A3B8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37376" y="3703320"/>
            <a:ext cx="26151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574536" y="4754880"/>
            <a:ext cx="23408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50" dirty="0">
                <a:solidFill>
                  <a:srgbClr val="D8E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وحدة ونموذج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381744" y="3246120"/>
            <a:ext cx="2615184" cy="2423160"/>
          </a:xfrm>
          <a:prstGeom prst="roundRect">
            <a:avLst>
              <a:gd name="adj" fmla="val 4528"/>
            </a:avLst>
          </a:prstGeom>
          <a:solidFill>
            <a:srgbClr val="0F766E"/>
          </a:solidFill>
          <a:ln/>
          <a:effectLst>
            <a:outerShdw blurRad="101600" dist="38100" dir="5400000" algn="bl" rotWithShape="0">
              <a:srgbClr val="94A3B8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381744" y="3703320"/>
            <a:ext cx="26151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 / EN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518904" y="4754880"/>
            <a:ext cx="23408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50" dirty="0">
                <a:solidFill>
                  <a:srgbClr val="D8E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ثنائي اللغة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59775" y="6400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MAWASHI · InspectPro QMS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6400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b="1" kern="0" spc="2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الدخول والأمان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دخول آمن موحّد لكل المستخدمين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636776"/>
            <a:ext cx="6693408" cy="4224528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4A3B8">
                <a:alpha val="45000"/>
              </a:srgbClr>
            </a:outerShdw>
          </a:effectLst>
        </p:spPr>
      </p:sp>
      <p:pic>
        <p:nvPicPr>
          <p:cNvPr id="5" name="Image 0" descr="C:\Users\moham\AppData\Local\Temp\claude\D--inspection-react-full\ea805443-e362-4539-a734-50dbdf8a38c0\scratchpad\shots\01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658368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82535" y="1707956"/>
            <a:ext cx="41605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حسابات باسم المستخدم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لكل موظف حساب خاص باسمه وكلمة مرور محفوظة في قاعدة بيانات آمنة.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صلاحيات حسب الدور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يرى كل مستخدم الوحدات والفروع المسموح له بها فقط.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حماية الجلسة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انتهاء تلقائي للجلسة، وقفل عند الخمول، ووضع «قراءة فقط» عند الحاجة.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اشتراك مُدار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تفعيل/إيقاف الوصول مركزياً مع صفحة تنبيه عند انتهاء الاشتراك.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-687001" y="6400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MAWASHI · InspectPro QMS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6400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b="1" kern="0" spc="2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الشاشة الرئيسية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مركز انطلاق واحد لكل الوحدات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636776"/>
            <a:ext cx="6693408" cy="4224528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4A3B8">
                <a:alpha val="45000"/>
              </a:srgbClr>
            </a:outerShdw>
          </a:effectLst>
        </p:spPr>
      </p:sp>
      <p:pic>
        <p:nvPicPr>
          <p:cNvPr id="5" name="Image 0" descr="C:\Users\moham\AppData\Local\Temp\claude\D--inspection-react-full\ea805443-e362-4539-a734-50dbdf8a38c0\scratchpad\shots\02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658368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82535" y="1453896"/>
            <a:ext cx="41605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قسماً رئيسياً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الإدارة، المؤشرات، التفتيش، الإشراف، المراقبة اليومية، ISO/HACCP، HSE، التدريب والمزيد.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بحث فوري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الوصول لأي قسم بالكتابة مباشرة دون تنقّل طويل.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بطاقات ذكية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بطاقة تفتح مساحة عمل مخصّصة بحسب صلاحية المستخدم.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ساعة حيّة وحالة النظام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الحالة «متصل» وتاريخ اليوم وترحيب باسم المستخدم.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-754380" y="6400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MAWASHI · InspectPro QMS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6400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b="1" kern="0" spc="2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خريطة النظام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000" b="1" dirty="0" err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</a:t>
            </a:r>
            <a:r>
              <a:rPr lang="ar-SA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ة</a:t>
            </a: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ركائز تغطّي دورة الجودة كاملة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66490" y="200253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965960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المراقبة اليومية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86384" y="2532888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تقارير سلامة الغذاء لكل فرع وكل يوم.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53458" y="1783080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271309" y="200253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914" y="1965960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22000 / HACCP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91202" y="2532888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وحدة توثيق وامتثال.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58277" y="1783080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1076127" y="200253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8377733" y="1965960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396021" y="2532888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الصحة والسلامة والبيئة والامتثال.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95928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66490" y="421538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4178808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التدريب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86384" y="4745736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جلسات، اختبارات، شهادات، تحليل الفجوات.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53458" y="3995928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71309" y="421538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914" y="4178808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العمليات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591202" y="4745736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المرتجعات، السيارات، الصيانة، المخزون، البطاقات الصحية.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58277" y="3995928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1076127" y="421538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2DD4BF"/>
          </a:solidFill>
          <a:ln/>
        </p:spPr>
      </p:sp>
      <p:sp>
        <p:nvSpPr>
          <p:cNvPr id="26" name="Text 24"/>
          <p:cNvSpPr/>
          <p:nvPr/>
        </p:nvSpPr>
        <p:spPr>
          <a:xfrm>
            <a:off x="8377733" y="4178808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الإدارة والمؤشرات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396021" y="4745736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تحكّم مركزية وتحليلات وتصدير.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259775" y="6400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MAWASHI · InspectPro QMS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6400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b="1" kern="0" spc="2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المراقبة اليومية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حيّة لكل فروع الشركة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636776"/>
            <a:ext cx="6693408" cy="4224528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4A3B8">
                <a:alpha val="45000"/>
              </a:srgbClr>
            </a:outerShdw>
          </a:effectLst>
        </p:spPr>
      </p:sp>
      <p:pic>
        <p:nvPicPr>
          <p:cNvPr id="5" name="Image 0" descr="C:\Users\moham\AppData\Local\Temp\claude\D--inspection-react-full\ea805443-e362-4539-a734-50dbdf8a38c0\scratchpad\shots\04_daily_mon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658368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82535" y="1783080"/>
            <a:ext cx="41605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فرعاً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نقاط بيع، إنتاج، مطبخ الورقاء، ومركبات النقل FTR.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تصنيف واضح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مراقبة الجودة، الإنتاج، نقاط البيع، المطبخ، النقل — بألوان مميزة.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اختر الفرع لتفتح تقاريره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دخول مباشر إلى تقارير الفرع المطلوب بنقرة واحدة.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عدّادات فورية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إجمالي الفروع، نقاط البيع، النقل، المطابخ في الأعلى.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-588390" y="6400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MAWASHI · InspectPro QMS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6400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b="1" kern="0" spc="2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التقارير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طرق متعددة لإدخال التقارير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66490" y="200253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965960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نماذج ويب لكل فرع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86384" y="2532888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شاشة إدخال مخصّصة لكل فرع مع تبويبات لكل نوع تقرير.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53458" y="1783080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271309" y="200253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914" y="1965960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قوائم منسدلة للمنتجات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91202" y="2532888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اختيار الأصناف من كتالوج موحّد لتقليل الأخطاء.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58277" y="1783080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1076127" y="200253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8377733" y="1965960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رفع الصور والمرفقات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396021" y="2532888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صور الأدلة تُرفع للسحابة (Cloudinary) لا كنص داخل التقرير.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95928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66490" y="421538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4178808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استيراد JSON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86384" y="4745736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استيراد بيانات جاهزة أو نقلها بين الأجهزة بسهولة.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53458" y="3995928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71309" y="421538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2DD4B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914" y="4178808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روابط عامة و QR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591202" y="4745736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تقييم الموردين واختبارات التدريب عبر رابط/رمز QR دون تسجيل دخول.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58277" y="3995928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1076127" y="421538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8377733" y="4178808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تحقّق تلقائي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396021" y="4745736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فحص المدى (مثل درجات الحرارة) وتنبيه فوري عند الخروج عنه.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-543567" y="6400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MAWASHI · InspectPro QMS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6400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b="1" kern="0" spc="2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أنواع التقارير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تغطية شاملة لكل نقطة تحكّم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705295" y="157276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أمثلة على أنواع التقارير المتاحة داخل الفروع: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705295" y="2148840"/>
            <a:ext cx="2468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مراقبة درجات حرارة الثلاجات (CCP)</a:t>
            </a:r>
            <a:endParaRPr lang="en-US" sz="1300" dirty="0"/>
          </a:p>
          <a:p>
            <a:pPr marL="0" indent="0" algn="r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النظافة الشخصية</a:t>
            </a:r>
            <a:endParaRPr lang="en-US" sz="1300" dirty="0"/>
          </a:p>
          <a:p>
            <a:pPr marL="0" indent="0" algn="r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التنظيف اليومي</a:t>
            </a:r>
            <a:endParaRPr lang="en-US" sz="1300" dirty="0"/>
          </a:p>
          <a:p>
            <a:pPr marL="0" indent="0" algn="r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استلام البضائع</a:t>
            </a:r>
            <a:endParaRPr lang="en-US" sz="1300" dirty="0"/>
          </a:p>
          <a:p>
            <a:pPr marL="0" indent="0" algn="r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التتبّع</a:t>
            </a:r>
            <a:endParaRPr lang="en-US" sz="1300" dirty="0"/>
          </a:p>
          <a:p>
            <a:pPr marL="0" indent="0" algn="r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مكافحة الحشرات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74175" y="2148840"/>
            <a:ext cx="2468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المعايرة</a:t>
            </a:r>
            <a:endParaRPr lang="en-US" sz="1300" dirty="0"/>
          </a:p>
          <a:p>
            <a:pPr marL="0" indent="0" algn="r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تركيز المعقّم</a:t>
            </a:r>
            <a:endParaRPr lang="en-US" sz="1300" dirty="0"/>
          </a:p>
          <a:p>
            <a:pPr marL="0" indent="0" algn="r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الدجاج الطازج</a:t>
            </a:r>
            <a:endParaRPr lang="en-US" sz="1300" dirty="0"/>
          </a:p>
          <a:p>
            <a:pPr marL="0" indent="0" algn="r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تحميل الشاحنات FTR</a:t>
            </a:r>
            <a:endParaRPr lang="en-US" sz="1300" dirty="0"/>
          </a:p>
          <a:p>
            <a:pPr marL="0" indent="0" algn="r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المواد الخام (مكوّنات/تغليف)</a:t>
            </a:r>
            <a:endParaRPr lang="en-US" sz="1300" dirty="0"/>
          </a:p>
          <a:p>
            <a:pPr marL="0" indent="0" algn="r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استلام شحنات المورّدين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3776" y="1956816"/>
            <a:ext cx="5779008" cy="3653028"/>
          </a:xfrm>
          <a:prstGeom prst="roundRect">
            <a:avLst>
              <a:gd name="adj" fmla="val 22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4A3B8">
                <a:alpha val="45000"/>
              </a:srgbClr>
            </a:outerShdw>
          </a:effectLst>
        </p:spPr>
      </p:sp>
      <p:pic>
        <p:nvPicPr>
          <p:cNvPr id="8" name="Image 0" descr="C:\Users\moham\AppData\Local\Temp\claude\D--inspection-react-full\ea805443-e362-4539-a734-50dbdf8a38c0\scratchpad\shots\10_pos10_repo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11680"/>
            <a:ext cx="5669280" cy="35433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-754380" y="6400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MAWASHI · InspectPro QMS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2920" y="6400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b="1" kern="0" spc="2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الاطلاع على التقارير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عرض حيّة لكل فرع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636776"/>
            <a:ext cx="6693408" cy="4224528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4A3B8">
                <a:alpha val="45000"/>
              </a:srgbClr>
            </a:outerShdw>
          </a:effectLst>
        </p:spPr>
      </p:sp>
      <p:pic>
        <p:nvPicPr>
          <p:cNvPr id="5" name="Image 0" descr="C:\Users\moham\AppData\Local\Temp\claude\D--inspection-react-full\ea805443-e362-4539-a734-50dbdf8a38c0\scratchpad\shots\09_qcs_repo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658368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82535" y="1783080"/>
            <a:ext cx="41605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نظرة اليوم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المُقدَّم اليوم مقابل المتبقّي، وهذا الأسبوع/الشهر، والإجمالي التاريخي.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تبويب لكل نوع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الكوولرز، النظافة، التنظيف، الاستلام… كل نوع في تبويبه.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حالة واضحة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«مُقدَّم اليوم» أو «لم يُقدَّم» بألوان واضحة لكل نوع.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تحديث حيّ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مباشرة من الخادم مع زر تحديث فوري.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-754380" y="6400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MAWASHI · InspectPro QMS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6400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b="1" kern="0" spc="2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شكل التقرير كما يُعرض (1)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مراقبة درجات الحرارة (CCP)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636776"/>
            <a:ext cx="6693408" cy="4224528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4A3B8">
                <a:alpha val="45000"/>
              </a:srgbClr>
            </a:outerShdw>
          </a:effectLst>
        </p:spPr>
      </p:sp>
      <p:pic>
        <p:nvPicPr>
          <p:cNvPr id="5" name="Image 0" descr="C:\Users\moham\AppData\Local\Temp\claude\D--inspection-react-full\ea805443-e362-4539-a734-50dbdf8a38c0\scratchpad\shots\19_report_detail_qcs_cool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658368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82535" y="1783080"/>
            <a:ext cx="41605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ترويسة وثيقة رسمية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عنوان الوثيقة، رقمها، تاريخ الإصدار، رقم المراجعة، المنطقة، مُعِدّ ومعتمِد التقرير.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قائمة CCP وإجراءات تصحيحية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حدود التحكّم والإجراء التصحيحي مكتوبة داخل التقرير نفسه.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شبكة قراءات لكل ثلاجة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قراءة كل ثلاجة كل ساعتين من 4 صباحاً حتى 8 مساءً مع مؤشّر «ضمن المدى».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أرشيف بالسنوات وطباعة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تقارير محفوظة لكل سنة، مع طباعة مباشرة بنقرة.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-678037" y="6400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MAWASHI · InspectPro QMS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6400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b="1" kern="0" spc="2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شكل التقرير كما يُعرض (2)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قائمة التنظيف اليومي (Checklist)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636776"/>
            <a:ext cx="6693408" cy="4224528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4A3B8">
                <a:alpha val="45000"/>
              </a:srgbClr>
            </a:outerShdw>
          </a:effectLst>
        </p:spPr>
      </p:sp>
      <p:pic>
        <p:nvPicPr>
          <p:cNvPr id="5" name="Image 0" descr="C:\Users\moham\AppData\Local\Temp\claude\D--inspection-react-full\ea805443-e362-4539-a734-50dbdf8a38c0\scratchpad\shots\18_report_detail_pos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658368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37399" y="1417320"/>
            <a:ext cx="41605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جدول تحقّق مفصّل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رقم تسلسلي، بند التنظيف، مطابق/غير مطابق، ملاحظة، أُبلِغ، إجراء تصحيحي.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مناطق واضحة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منطقة غسل الأيدي، غرفة تقطيع اللحوم… مقسّمة بوضوح.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نفس شكل الورقة الرسمية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العرض مطابق تماماً للنموذج الورقي المعتمد.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تصدير PDF / JSON وطباعة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تصدير التقرير كـ PDF أو JSON أو طباعته مباشرة.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-606319" y="6400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MAWASHI · InspectPro QMS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6400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b="1" kern="0" spc="2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خانات التقارير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حقل مصمّم للتدقيق والامتثال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87188" cy="201168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68900" y="200253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965960"/>
            <a:ext cx="44270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حقول الترويسة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86384" y="2532888"/>
            <a:ext cx="49117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عنوان الوثيقة · رقم الوثيقة · تاريخ الإصدار · رقم المراجعة · المنطقة · أُعِدّ بواسطة · معتمَد من · تاريخ التقرير.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55868" y="1783080"/>
            <a:ext cx="5387188" cy="201168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076127" y="200253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475324" y="1965960"/>
            <a:ext cx="44270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صفوف قائمة التحقّق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93612" y="2532888"/>
            <a:ext cx="49117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رقم تسلسلي · البند · مطابق/غير مطابق (C/NC) · ملاحظة · أُبلِغ · ملاحظات وإجراء تصحيحي.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087368"/>
            <a:ext cx="5387188" cy="201168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68900" y="430682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4270248"/>
            <a:ext cx="44270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شبكة الحرارة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86384" y="4837176"/>
            <a:ext cx="49117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اسم الوحدة · المدى المسموح · قراءات كل ساعتين · حالة ضمن/خارج المدى.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55868" y="4087368"/>
            <a:ext cx="5387188" cy="201168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1076127" y="430682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475324" y="4270248"/>
            <a:ext cx="44270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حقول الشحنات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93612" y="4837176"/>
            <a:ext cx="49117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التاريخ · المورّد · الشحنة · الفاتورة · بوليصة الشحن · الحالة · الكمية · الوزن · تاريخ الذبح · تاريخ الانتهاء.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-518674" y="6427515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MAWASHI · InspectPro QMS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6400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b="1" kern="0" spc="2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مركز التحكّم الإداري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رؤية مركزية لكل التقارير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636776"/>
            <a:ext cx="6693408" cy="4224528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4A3B8">
                <a:alpha val="45000"/>
              </a:srgbClr>
            </a:outerShdw>
          </a:effectLst>
        </p:spPr>
      </p:sp>
      <p:pic>
        <p:nvPicPr>
          <p:cNvPr id="5" name="Image 0" descr="C:\Users\moham\AppData\Local\Temp\claude\D--inspection-react-full\ea805443-e362-4539-a734-50dbdf8a38c0\scratchpad\shots\03_ad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658368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37399" y="1453896"/>
            <a:ext cx="41605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السجلات في مكان واحد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آلاف التقارير من نقاط البيع، مراقبة الجودة، النقل والإنتاج.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تنبيهات تواريخ الانتهاء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عناصر تحتاج اهتماماً (شهادات/تراخيص) مصنّفة حسب قربها من الانتهاء.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نسخ احتياطي واستعادة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تصدير كل البيانات أو استيراد نسخة احتياطية بضغطة.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مساعد ذكي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مساعد مدمج للاستعلام عن البيانات والمساعدة في المهام.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-355307" y="6400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MAWASHI · InspectPro QMS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6400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b="1" kern="0" spc="2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22000 و HACCP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مركز قيادة سلامة الغذاء</a:t>
            </a:r>
            <a:endParaRPr lang="en-US" sz="3000" dirty="0"/>
          </a:p>
        </p:txBody>
      </p:sp>
      <p:pic>
        <p:nvPicPr>
          <p:cNvPr id="5" name="Image 0" descr="C:\Users\moham\AppData\Local\Temp\claude\D--inspection-react-full\ea805443-e362-4539-a734-50dbdf8a38c0\scratchpad\shots\05_iso_hacc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92" y="749987"/>
            <a:ext cx="7344461" cy="45902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0783" y="1453896"/>
            <a:ext cx="41605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وحدة متكاملة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دليل HACCP، سياسة سلامة الغذاء، سجل المخاطر والفرص.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التدقيق والمراجعة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التدقيق الداخلي، اجتماع مراجعة الإدارة (MRM)، مراقبة CCP.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الاستدعاء والمعايرة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سحب وهمي وحقيقي، سجلات المعايرة الداخلية والخارجية.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الوثائق والموردون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الوثائق، الشكاوى، اعتماد وتقييم الموردين، السجل القانوني.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-444954" y="6400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MAWASHI · InspectPro QMS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6400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b="1" kern="0" spc="2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الصحة والسلامة والبيئة والامتثال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636776"/>
            <a:ext cx="6693408" cy="4224528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4A3B8">
                <a:alpha val="45000"/>
              </a:srgbClr>
            </a:outerShdw>
          </a:effectLst>
        </p:spPr>
      </p:sp>
      <p:pic>
        <p:nvPicPr>
          <p:cNvPr id="5" name="Image 0" descr="C:\Users\moham\AppData\Local\Temp\claude\D--inspection-react-full\ea805443-e362-4539-a734-50dbdf8a38c0\scratchpad\shots\06_h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658368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82535" y="1783080"/>
            <a:ext cx="41605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متوافق مع الأنظمة الإماراتية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وزارة الموارد البشرية، بلدية دبي، الدفاع المدني، MoCCAE، ESMA/MoIAT (حلال).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ومعايير عالمية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45001 · ISO 14001 · ISO 22000 · HACCP · FSSC 22000.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سياسات وإجراءات جاهزة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سياسة أساسية و28 إجراء تشغيل قياسي وسجل مخاطر.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نماذج تشغيلية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بلاغ حادث، عدم مطابقة (NCR)، رفاهية العاملين، تصاريح عمل والمزيد.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0836" y="6400800"/>
            <a:ext cx="30895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MAWASHI · InspectPro QMS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6400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b="1" kern="0" spc="2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التدريب الداخلي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الجلسة إلى الشهادة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636776"/>
            <a:ext cx="6693408" cy="4224528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4A3B8">
                <a:alpha val="45000"/>
              </a:srgbClr>
            </a:outerShdw>
          </a:effectLst>
        </p:spPr>
      </p:sp>
      <p:pic>
        <p:nvPicPr>
          <p:cNvPr id="5" name="Image 0" descr="C:\Users\moham\AppData\Local\Temp\claude\D--inspection-react-full\ea805443-e362-4539-a734-50dbdf8a38c0\scratchpad\shots\07_trai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658368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82535" y="1783080"/>
            <a:ext cx="41605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جلسات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أنشئ جلسة، أرفِق بنك الأسئلة، واحفظها أونلاين.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مكتبة واختبارات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أضف المشاركين، شغّل الاختبارات، وتابع مؤشرات النجاح.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خطة سنوية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خطّط التدريب المطلوب لكل فرع ولكل شهر.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شهادات وتحليل الفجوات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شهادات بروابط/QR للتحقّق، وتحليل التغطية ونسب النجاح.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-337378" y="6400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MAWASHI · InspectPro QMS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6400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b="1" kern="0" spc="2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وحدات العمليات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أبعد من سلامة الغذاء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66490" y="200253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965960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البطاقات الصحية (OHC)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86384" y="2532888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رفع ومتابعة البطاقات الصحية للعاملين.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53458" y="1783080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271309" y="200253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914" y="1965960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المرتجعات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91202" y="2532888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مرتجعات الموردين، ENOC، ومرتجعات الزبائن.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58277" y="1783080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1076127" y="200253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8377733" y="1965960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السيارات والأسطول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396021" y="2532888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التحميل، التنظيف، الموافقات، ومؤشرات الأسطول.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95928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66490" y="421538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4178808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الصيانة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86384" y="4745736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طلبات الصيانة وتتبّعها حتى الإغلاق.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53458" y="3995928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71309" y="421538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914" y="4178808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المخزون والمنتج النهائي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591202" y="4745736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الجرد اليومي وإدخال المنتج النهائي.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58277" y="3995928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1076127" y="421538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2DD4BF"/>
          </a:solidFill>
          <a:ln/>
        </p:spPr>
      </p:sp>
      <p:sp>
        <p:nvSpPr>
          <p:cNvPr id="26" name="Text 24"/>
          <p:cNvSpPr/>
          <p:nvPr/>
        </p:nvSpPr>
        <p:spPr>
          <a:xfrm>
            <a:off x="8377733" y="4178808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استلام الشحنات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396021" y="4745736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فحص المواد الخام واستلام شحنات المورّدين.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-516672" y="63916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MAWASHI · InspectPro QMS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6400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b="1" kern="0" spc="2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المؤشرات والتحليلات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قِس الأداء عبر كل الفروع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636776"/>
            <a:ext cx="6693408" cy="4224528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4A3B8">
                <a:alpha val="45000"/>
              </a:srgbClr>
            </a:outerShdw>
          </a:effectLst>
        </p:spPr>
      </p:sp>
      <p:pic>
        <p:nvPicPr>
          <p:cNvPr id="5" name="Image 0" descr="C:\Users\moham\AppData\Local\Temp\claude\D--inspection-react-full\ea805443-e362-4539-a734-50dbdf8a38c0\scratchpad\shots\13_k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658368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82535" y="1783080"/>
            <a:ext cx="41605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ملخّص عام حيّ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النماذج النشطة، الأنواع المستخدمة، الفروع النشطة، تقارير اليوم والإجمالي.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 كل فرع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لكل فرع تُظهر عدد التقارير وآخر إرسال ونماذجه النشطة.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فلترة بالتاريخ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حصر النتائج ضمن فترة زمنية محدّدة.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عربية بالكامل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واجهة عربية RTL كاملة مع تصدير JSON.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-606319" y="6400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MAWASHI · InspectPro QMS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6400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b="1" kern="0" spc="2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المخرجات والتصدير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بياناتك، بأي صيغة تريد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66490" y="200253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965960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86384" y="2532888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تصدير التقرير بشكله الرسمي جاهزاً للتدقيق.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53458" y="1783080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271309" y="200253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914" y="1965960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91202" y="2532888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نسخ احتياطية وجداول تُطابق شكل ملف العرض تماماً.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58277" y="1783080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1076127" y="200253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8377733" y="1965960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396021" y="2532888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تصدير/استيراد للبيانات ونقلها بين الأجهزة.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95928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66490" y="421538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4178808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طباعة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86384" y="4745736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طباعة مباشرة بنفس تنسيق النموذج المعتمد.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53458" y="3995928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71309" y="421538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914" y="4178808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591202" y="4745736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رموز تحقّق للشهادات وتقييم الموردين.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58277" y="3995928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1076127" y="421538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2DD4BF"/>
          </a:solidFill>
          <a:ln/>
        </p:spPr>
      </p:sp>
      <p:sp>
        <p:nvSpPr>
          <p:cNvPr id="26" name="Text 24"/>
          <p:cNvSpPr/>
          <p:nvPr/>
        </p:nvSpPr>
        <p:spPr>
          <a:xfrm>
            <a:off x="8377733" y="4178808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نسخ احتياطي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396021" y="4745736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تصدير/استعادة كامل قاعدة البيانات.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259775" y="6400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MAWASHI · InspectPro QMS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6400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b="1" kern="0" spc="2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الأمان والمنصّة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مبني ليكون موثوقاً وقابلاً للتوسّع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66490" y="200253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965960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صلاحيات دقيقة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86384" y="2532888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تحكّم بالوحدات والفروع وصلاحيات الإضافة/التعديل/الحذف لكل مستخدم.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53458" y="1783080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271309" y="200253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914" y="1965960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ضوابط أمنية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91202" y="2532888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وضع «قراءة فقط»، انتهاء الجلسة، قفل الخمول، وحماية الحذف.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58277" y="1783080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1076127" y="200253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8377733" y="1965960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سحابي وحيّ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396021" y="2532888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قاعدة بيانات PostgreSQL على خادم مُدار يعمل 24/7.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95928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66490" y="421538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4178808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متعدّد المنصّات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86384" y="4745736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سطح مكتب (Windows) وتطبيق ويب من أي متصفّح.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53458" y="3995928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71309" y="421538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914" y="4178808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متعدّد الشركات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591202" y="4745736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منتقي شركة لإدارة أكثر من كيان على نفس النظام.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58277" y="3995928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B8C4D2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1076127" y="421538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2DD4BF"/>
          </a:solidFill>
          <a:ln/>
        </p:spPr>
      </p:sp>
      <p:sp>
        <p:nvSpPr>
          <p:cNvPr id="26" name="Text 24"/>
          <p:cNvSpPr/>
          <p:nvPr/>
        </p:nvSpPr>
        <p:spPr>
          <a:xfrm>
            <a:off x="8377733" y="4178808"/>
            <a:ext cx="2524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صور في السحابة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396021" y="4745736"/>
            <a:ext cx="30092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الصور تُخزَّن في السحابة لأداء أسرع وحجم أخفّ.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259775" y="6400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MAWASHI · InspectPro QMS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6400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b="1" kern="0" spc="2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هذا النظام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ما تحتاجه الجودة في منصّة واحدة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636776"/>
            <a:ext cx="6693408" cy="4224528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4A3B8">
                <a:alpha val="45000"/>
              </a:srgbClr>
            </a:outerShdw>
          </a:effectLst>
        </p:spPr>
      </p:sp>
      <p:pic>
        <p:nvPicPr>
          <p:cNvPr id="5" name="Image 0" descr="C:\Users\moham\AppData\Local\Temp\claude\D--inspection-react-full\ea805443-e362-4539-a734-50dbdf8a38c0\scratchpad\shots\08_all_repo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658368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82535" y="1783080"/>
            <a:ext cx="41605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شامل حقاً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المراقبة اليومية + ISO/HACCP + HSE + التدريب + العمليات + التحليلات معاً.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ثنائي اللغة أصلاً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عربي/إنجليزي مع دعم كامل للكتابة من اليمين لليسار.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جاهز للامتثال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مصمّم حول ISO 22000/HACCP والأنظمة الإماراتية المحلية.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مثبت على أرض الواقع
</a:t>
            </a:r>
            <a:endParaRPr lang="en-US" sz="1300" dirty="0"/>
          </a:p>
          <a:p>
            <a:pPr marL="0" indent="0" algn="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يدير 29 فرعاً وآلاف التقارير الحيّة اليوم.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-534601" y="6418729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MAWASHI · InspectPro QMS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6400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18" y="182880"/>
            <a:ext cx="5120640" cy="4572000"/>
          </a:xfrm>
          <a:prstGeom prst="roundRect">
            <a:avLst>
              <a:gd name="adj" fmla="val 8000"/>
            </a:avLst>
          </a:prstGeom>
          <a:solidFill>
            <a:srgbClr val="0F766E">
              <a:alpha val="20000"/>
            </a:srgbClr>
          </a:solidFill>
          <a:ln/>
        </p:spPr>
      </p:sp>
      <p:pic>
        <p:nvPicPr>
          <p:cNvPr id="3" name="Image 0" descr="C:\Users\moham\AppData\Local\Temp\claude\D--inspection-react-full\ea805443-e362-4539-a734-50dbdf8a38c0\scratchpad\shots\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46888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لنرتقِ بالجودة معاً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66928" y="57607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إعداد: م. محمد عبدالله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1783</Words>
  <Application>Microsoft Office PowerPoint</Application>
  <PresentationFormat>Widescreen</PresentationFormat>
  <Paragraphs>296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MOHAMAD</cp:lastModifiedBy>
  <cp:revision>3</cp:revision>
  <dcterms:created xsi:type="dcterms:W3CDTF">2026-07-02T19:23:37Z</dcterms:created>
  <dcterms:modified xsi:type="dcterms:W3CDTF">2026-07-03T10:13:47Z</dcterms:modified>
</cp:coreProperties>
</file>